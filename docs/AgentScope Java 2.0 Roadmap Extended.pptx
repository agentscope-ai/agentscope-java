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a0326e0ff94116" /><Relationship Type="http://schemas.openxmlformats.org/officeDocument/2006/relationships/extended-properties" Target="/docProps/app.xml" Id="R170d3d4c74814242" /><Relationship Type="http://schemas.openxmlformats.org/officeDocument/2006/relationships/officeDocument" Target="/ppt/presentation.xml" Id="Rc47a510e37d942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52927f9d8d4e45"/>
  </p:sldMasterIdLst>
  <p:notesMasterIdLst>
    <p:notesMasterId xmlns:r="http://schemas.openxmlformats.org/officeDocument/2006/relationships" r:id="R0fa1b0a5b0424429"/>
  </p:notesMasterIdLst>
  <p:sldIdLst>
    <p:sldId xmlns:r="http://schemas.openxmlformats.org/officeDocument/2006/relationships" id="256" r:id="R2a06a9ec522a433c"/>
    <p:sldId xmlns:r="http://schemas.openxmlformats.org/officeDocument/2006/relationships" id="257" r:id="R30f80d20392946ec"/>
    <p:sldId xmlns:r="http://schemas.openxmlformats.org/officeDocument/2006/relationships" id="258" r:id="R19057215150d4774"/>
    <p:sldId xmlns:r="http://schemas.openxmlformats.org/officeDocument/2006/relationships" id="259" r:id="R6f9c0c8f5a6e4787"/>
    <p:sldId xmlns:r="http://schemas.openxmlformats.org/officeDocument/2006/relationships" id="260" r:id="R85f68d4374d54a99"/>
    <p:sldId xmlns:r="http://schemas.openxmlformats.org/officeDocument/2006/relationships" id="261" r:id="R6993c96db29843a4"/>
    <p:sldId xmlns:r="http://schemas.openxmlformats.org/officeDocument/2006/relationships" id="262" r:id="Ra0570c2382c7429e"/>
    <p:sldId xmlns:r="http://schemas.openxmlformats.org/officeDocument/2006/relationships" id="263" r:id="Re335b25b25d842b2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707533b78d4fc0" /><Relationship Type="http://schemas.openxmlformats.org/officeDocument/2006/relationships/slideMaster" Target="/ppt/slideMasters/slideMaster1.xml" Id="R8c52927f9d8d4e45" /><Relationship Type="http://schemas.openxmlformats.org/officeDocument/2006/relationships/notesMaster" Target="/ppt/notesMasters/notesMaster1.xml" Id="R0fa1b0a5b0424429" /><Relationship Type="http://schemas.openxmlformats.org/officeDocument/2006/relationships/presProps" Target="/ppt/presProps.xml" Id="R9446a710188041bf" /><Relationship Type="http://schemas.openxmlformats.org/officeDocument/2006/relationships/viewProps" Target="/ppt/viewProps.xml" Id="R4b5ab3bb45da4f7c" /><Relationship Type="http://schemas.openxmlformats.org/officeDocument/2006/relationships/tableStyles" Target="/ppt/tableStyles.xml" Id="R27a3e7b4dd8848b1" /><Relationship Type="http://schemas.openxmlformats.org/officeDocument/2006/relationships/slide" Target="/ppt/slides/slide1.xml" Id="R2a06a9ec522a433c" /><Relationship Type="http://schemas.openxmlformats.org/officeDocument/2006/relationships/slide" Target="/ppt/slides/slide2.xml" Id="R30f80d20392946ec" /><Relationship Type="http://schemas.openxmlformats.org/officeDocument/2006/relationships/slide" Target="/ppt/slides/slide3.xml" Id="R19057215150d4774" /><Relationship Type="http://schemas.openxmlformats.org/officeDocument/2006/relationships/slide" Target="/ppt/slides/slide4.xml" Id="R6f9c0c8f5a6e4787" /><Relationship Type="http://schemas.openxmlformats.org/officeDocument/2006/relationships/slide" Target="/ppt/slides/slide5.xml" Id="R85f68d4374d54a99" /><Relationship Type="http://schemas.openxmlformats.org/officeDocument/2006/relationships/slide" Target="/ppt/slides/slide6.xml" Id="R6993c96db29843a4" /><Relationship Type="http://schemas.openxmlformats.org/officeDocument/2006/relationships/slide" Target="/ppt/slides/slide7.xml" Id="Ra0570c2382c7429e" /><Relationship Type="http://schemas.openxmlformats.org/officeDocument/2006/relationships/slide" Target="/ppt/slides/slide8.xml" Id="Re335b25b25d842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6ccb3ac84741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135439aec4fe7" /><Relationship Type="http://schemas.openxmlformats.org/officeDocument/2006/relationships/notesMaster" Target="/ppt/notesMasters/notesMaster1.xml" Id="R265c40bde791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eecd4790ba4406" /><Relationship Type="http://schemas.openxmlformats.org/officeDocument/2006/relationships/notesMaster" Target="/ppt/notesMasters/notesMaster1.xml" Id="R5ff4fc55196144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30cae827d04318" /><Relationship Type="http://schemas.openxmlformats.org/officeDocument/2006/relationships/notesMaster" Target="/ppt/notesMasters/notesMaster1.xml" Id="R9740a85913af40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947dd788b543fb" /><Relationship Type="http://schemas.openxmlformats.org/officeDocument/2006/relationships/notesMaster" Target="/ppt/notesMasters/notesMaster1.xml" Id="R83564a88184f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ae256f9a24071" /><Relationship Type="http://schemas.openxmlformats.org/officeDocument/2006/relationships/notesMaster" Target="/ppt/notesMasters/notesMaster1.xml" Id="R9f7f243e5dd64c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ec782c3e80412b" /><Relationship Type="http://schemas.openxmlformats.org/officeDocument/2006/relationships/notesMaster" Target="/ppt/notesMasters/notesMaster1.xml" Id="R289a9c2f6d1f4a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ab46ade3024149" /><Relationship Type="http://schemas.openxmlformats.org/officeDocument/2006/relationships/notesMaster" Target="/ppt/notesMasters/notesMaster1.xml" Id="R77ee601733fc46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880e67ba734c01" /><Relationship Type="http://schemas.openxmlformats.org/officeDocument/2006/relationships/notesMaster" Target="/ppt/notesMasters/notesMaster1.xml" Id="Rfb9ce1dee79449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讲解建议：先讲三条主线并非孤立项目，最终目标是把 Agent 从开发框架推进到可运营的平台能力。</a:t>
            </a:r>
          </a:p>
          <a:p xmlns:a="http://schemas.openxmlformats.org/drawingml/2006/main">
            <a:r>
              <a:t>Goal 重点强调 executor / verifier 的目标校验与反馈闭环；Roadmap 不在此页承诺具体版本日期。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https://docs.agentscope.io/versions/2.0.8dev/en/building-blocks/pipeline/overview</a:t>
            </a:r>
          </a:p>
          <a:p xmlns:a="http://schemas.openxmlformats.org/drawingml/2006/main">
            <a:r>
              <a:t>- https://docs.agentscope.io/versions/2.0.8dev/en/building-blocks/pipeline/goal</a:t>
            </a:r>
          </a:p>
          <a:p xmlns:a="http://schemas.openxmlformats.org/drawingml/2006/main">
            <a:r>
              <a:t>- https://docs.agentscope.io/versions/2.0.8dev/en/deploy/rag</a:t>
            </a:r>
          </a:p>
          <a:p xmlns:a="http://schemas.openxmlformats.org/drawingml/2006/main">
            <a:r>
              <a:t>- Original AgentScope Java 2.0 v1.pptx (slides 8, 13–15, 18, 20, 22, 24)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讲解建议：中间的 AgentCore 负责全生命周期托管；上方 AgentLoop 观测与评估横切所有阶段；左右两侧分别是 Harness 内核与规模化协作/服务扩展。</a:t>
            </a:r>
          </a:p>
          <a:p xmlns:a="http://schemas.openxmlformats.org/drawingml/2006/main">
            <a:r>
              <a:t>强调统一契约是闭环关键：事件流负责可观测，状态存储负责恢复，控制面 API 负责运营与治理。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https://docs.agentscope.io/versions/2.0.8dev/en/building-blocks/pipeline/goal</a:t>
            </a:r>
          </a:p>
          <a:p xmlns:a="http://schemas.openxmlformats.org/drawingml/2006/main">
            <a:r>
              <a:t>- https://docs.agentscope.io/versions/2.0.8dev/en/deploy/rag</a:t>
            </a:r>
          </a:p>
          <a:p xmlns:a="http://schemas.openxmlformats.org/drawingml/2006/main">
            <a:r>
              <a:t>- /Users/ken/agentscope-2/agentscope-java/docs/v2/en/docs/harness/subagent.md</a:t>
            </a:r>
          </a:p>
          <a:p xmlns:a="http://schemas.openxmlformats.org/drawingml/2006/main">
            <a:r>
              <a:t>- /Users/ken/agentscope-2/agentscope-java/docs/v2/en/docs/harness/sandbox.md</a:t>
            </a:r>
          </a:p>
          <a:p xmlns:a="http://schemas.openxmlformats.org/drawingml/2006/main">
            <a:r>
              <a:t>- Original AgentScope Java 2.0 v1.pptx (slides 14, 15, 18, 20, 22, 24)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讲解建议：强调每个成员都是独立 Session；团队不是进程内临时聊天，而是带任务、消息和生命周期的持久协作资源。</a:t>
            </a:r>
          </a:p>
          <a:p xmlns:a="http://schemas.openxmlformats.org/drawingml/2006/main">
            <a:r>
              <a:t>Lead 负责建队、角色与结果收敛；Task Board 管任务状态；Mailbox + Message Bus + Wakeup 让成员可跨进程并发运行。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https://docs.agentscope.io/versions/2.0.8dev/en/deploy/agent-team</a:t>
            </a:r>
          </a:p>
          <a:p xmlns:a="http://schemas.openxmlformats.org/drawingml/2006/main">
            <a:r>
              <a:t>- /Users/ken/agentscope-2/agentscope-java/docs/v2/zh/blogs/agentscope-service-release-tech.md</a:t>
            </a:r>
          </a:p>
          <a:p xmlns:a="http://schemas.openxmlformats.org/drawingml/2006/main">
            <a:r>
              <a:t>- /Users/ken/agentscope-2/agentscope-java/agentscope-harness/src/main/java/io/agentscope/harness/agent/HarnessAgent.java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讲解建议：先用一句话区分——SubAgent 是任务级父子委派，AgentTeams 是团队级协作状态机。</a:t>
            </a:r>
          </a:p>
          <a:p xmlns:a="http://schemas.openxmlformats.org/drawingml/2006/main">
            <a:r>
              <a:t>如果任务可以清晰 fan-out / fan-in，优先 SubAgent；如果需要共享计划、持续通信和跨 Session 恢复，选择 AgentTeams。二者可以组合。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https://docs.agentscope.io/versions/2.0.8dev/en/deploy/agent-team</a:t>
            </a:r>
          </a:p>
          <a:p xmlns:a="http://schemas.openxmlformats.org/drawingml/2006/main">
            <a:r>
              <a:t>- /Users/ken/agentscope-2/agentscope-java/docs/v2/en/docs/harness/subagent.md</a:t>
            </a:r>
          </a:p>
          <a:p xmlns:a="http://schemas.openxmlformats.org/drawingml/2006/main">
            <a:r>
              <a:t>- /Users/ken/agentscope-2/agentscope-java/docs/v2/en/docs/building-blocks/message-and-event.md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讲解建议：RAG Service 的价值不只是把检索包成 API，而是把知识库生命周期、索引任务和运维能力产品化。</a:t>
            </a:r>
          </a:p>
          <a:p xmlns:a="http://schemas.openxmlformats.org/drawingml/2006/main">
            <a:r>
              <a:t>生产拓扑中 API 与 Index Worker 分离扩缩；Blob Store 保证 Worker 共享文件源，Vector Store 按知识库隔离。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https://docs.agentscope.io/versions/2.0.8dev/en/deploy/rag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讲解建议：Static / Agentic 是 Roadmap 上的访问与决策策略；底层可共用现有两层长期记忆、上下文压缩与 Recall Tools。</a:t>
            </a:r>
          </a:p>
          <a:p xmlns:a="http://schemas.openxmlformats.org/drawingml/2006/main">
            <a:r>
              <a:t>现有 Harness 管线由 Daily Log 和 curated MEMORY.md 构成；Flush 提取事实，Consolidation 合并去重，Compaction 控制上下文预算。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/Users/ken/agentscope-2/agentscope-java/docs/v2/en/docs/harness/memory.md</a:t>
            </a:r>
          </a:p>
          <a:p xmlns:a="http://schemas.openxmlformats.org/drawingml/2006/main">
            <a:r>
              <a:t>- /Users/ken/agentscope-2/agentscope-java/docs/v2/en/docs/harness/filesystem.md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讲解建议：业务 Agent 只依赖统一 Filesystem / Workspace / Shell 工具，不感知本地 Docker、Kubernetes 或 E2B 等具体后端。</a:t>
            </a:r>
          </a:p>
          <a:p xmlns:a="http://schemas.openxmlformats.org/drawingml/2006/main">
            <a:r>
              <a:t>E2B 适合远程托管的隔离执行；Workspace Hydrate、Snapshot 与共享 StateStore 共同支撑跨调用或多副本恢复。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/Users/ken/agentscope-2/agentscope-java/docs/v2/en/docs/harness/filesystem.md</a:t>
            </a:r>
          </a:p>
          <a:p xmlns:a="http://schemas.openxmlformats.org/drawingml/2006/main">
            <a:r>
              <a:t>- /Users/ken/agentscope-2/agentscope-java/docs/v2/en/docs/harness/sandbox.md</a:t>
            </a:r>
          </a:p>
          <a:p xmlns:a="http://schemas.openxmlformats.org/drawingml/2006/main">
            <a:r>
              <a:t>- /Users/ken/agentscope-2/agentscope-java/docs/v2/en/docs/others/going-to-production.md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讲解建议：Goal Pipeline 是固定逻辑的双 Agent 管线——Executor 做事，Verifier 基于同一目标验收。</a:t>
            </a:r>
          </a:p>
          <a:p xmlns:a="http://schemas.openxmlformats.org/drawingml/2006/main">
            <a:r>
              <a:t>Verifier 的 fail message 原样反馈给 Executor；pass / impossible 结束，或在 max_iters 后停止。HITL 恢复不会重置尝试预算。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https://docs.agentscope.io/versions/2.0.8dev/en/building-blocks/pipeline/overview</a:t>
            </a:r>
          </a:p>
          <a:p xmlns:a="http://schemas.openxmlformats.org/drawingml/2006/main">
            <a:r>
              <a:t>- https://docs.agentscope.io/versions/2.0.8dev/en/building-blocks/pipeline/goal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d42ceb6344f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a47344f994954" /><Relationship Type="http://schemas.openxmlformats.org/officeDocument/2006/relationships/image" Target="/ppt/media/image2.jpeg" Id="R77c6cbe9a3054028" /><Relationship Type="http://schemas.openxmlformats.org/officeDocument/2006/relationships/image" Target="/ppt/media/image.png" Id="R28bdbbcce1074b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153432ad940c5" /><Relationship Type="http://schemas.openxmlformats.org/officeDocument/2006/relationships/image" Target="/ppt/media/image3.jpeg" Id="Rd5b4c5f602e34ca5" /><Relationship Type="http://schemas.openxmlformats.org/officeDocument/2006/relationships/image" Target="/ppt/media/image.png" Id="Rd4f38dcaab7e40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235937c3044f1" /><Relationship Type="http://schemas.openxmlformats.org/officeDocument/2006/relationships/image" Target="/ppt/media/image.png" Id="Rc798bddf51824a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8f62d14794e73" /><Relationship Type="http://schemas.openxmlformats.org/officeDocument/2006/relationships/image" Target="/ppt/media/image2.png" Id="R32fdcc4e46314401" /><Relationship Type="http://schemas.openxmlformats.org/officeDocument/2006/relationships/image" Target="/ppt/media/image.png" Id="R6717c527a0fe47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d0a83b597413d" /><Relationship Type="http://schemas.openxmlformats.org/officeDocument/2006/relationships/image" Target="/ppt/media/image3.png" Id="R31d394aba4de4104" /><Relationship Type="http://schemas.openxmlformats.org/officeDocument/2006/relationships/image" Target="/ppt/media/image.png" Id="R6907b24e8e6841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922ebbf444042" /><Relationship Type="http://schemas.openxmlformats.org/officeDocument/2006/relationships/image" Target="/ppt/media/image4.jpeg" Id="R25953a4688fe49ec" /><Relationship Type="http://schemas.openxmlformats.org/officeDocument/2006/relationships/image" Target="/ppt/media/image4.png" Id="Rca831b7874e64161" /></Relationships>
</file>

<file path=ppt/slideLayouts/slideLayout1.xml><?xml version="1.0" encoding="utf-8"?>
<p:sldLayout xmlns:p="http://schemas.openxmlformats.org/presentationml/2006/main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91824907-141F-4C38-8A90-FA526337C32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目录.jpe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6cbe9a3054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6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dbbcce1074b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2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54CECEE1-5A30-4EA5-A06F-616CEAECD94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1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4c5f602e34c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511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35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38dcaab7e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1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395EC028-BEC6-44DA-8316-682C10DC4CE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>
  <p:cSld name="内容页-空白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">
            <a:extLst xmlns:a="http://schemas.openxmlformats.org/drawingml/2006/main">
              <a:ext uri="{FF2B5EF4-FFF2-40B4-BE49-F238E27FC236}">
                <a16:creationId xmlns:a16="http://schemas.microsoft.com/office/drawing/2014/main" id="{EA2DB30B-C883-4D0F-A573-78DD567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24384001" cy="13716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5">
              <a:alpha val="15000"/>
            </a:srgbClr>
          </a:solidFill>
          <a:ln xmlns:a="http://schemas.openxmlformats.org/drawingml/2006/main" w="12700"/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defTabSz="825500">
              <a:buNone/>
              <a:defRPr sz="32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3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8bddf51824a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0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A76DDB77-9C30-4EFE-A437-DE41730160A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>
  <p:cSld name="内容页-浅色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2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dcc4e46314401">
            <a:alphaModFix amt="80251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00" y="-2540000"/>
            <a:ext cx="30480000" cy="17145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62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7c527a0fe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8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6ACCA374-BFF1-463C-BAF7-184DEE6C794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>
  <p:cSld name="内容页-浅色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0" name="3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394aba4de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71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7b24e8e684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758819"/>
            <a:ext cx="1881628" cy="410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7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9DBCBB3E-C35E-4A1A-853B-CBFB5BD95F4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6" name="封底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53a4688fe49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07" name="图像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31b7874e64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2959" y="9656409"/>
            <a:ext cx="10885584" cy="68968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3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EB9C8D8D-BDBD-44D7-B19A-3FE38A4245A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888b3b4c2ee14767" /><Relationship Type="http://schemas.openxmlformats.org/officeDocument/2006/relationships/image" Target="/ppt/media/image.png" Id="R461c0ede2a1b4624" /><Relationship Type="http://schemas.openxmlformats.org/officeDocument/2006/relationships/theme" Target="/ppt/slideMasters/theme/theme2.xml" Id="Rbe553850ce3c4816" /><Relationship Type="http://schemas.openxmlformats.org/officeDocument/2006/relationships/slideLayout" Target="/ppt/slideLayouts/slideLayout1.xml" Id="Re1f41819728843ee" /><Relationship Type="http://schemas.openxmlformats.org/officeDocument/2006/relationships/slideLayout" Target="/ppt/slideLayouts/slideLayout2.xml" Id="R13d8a4ba56994da9" /><Relationship Type="http://schemas.openxmlformats.org/officeDocument/2006/relationships/slideLayout" Target="/ppt/slideLayouts/slideLayout3.xml" Id="R8995fc77dd17479e" /><Relationship Type="http://schemas.openxmlformats.org/officeDocument/2006/relationships/slideLayout" Target="/ppt/slideLayouts/slideLayout4.xml" Id="Rffec6cd029aa4368" /><Relationship Type="http://schemas.openxmlformats.org/officeDocument/2006/relationships/slideLayout" Target="/ppt/slideLayouts/slideLayout5.xml" Id="Ra38840ca0e044448" /><Relationship Type="http://schemas.openxmlformats.org/officeDocument/2006/relationships/slideLayout" Target="/ppt/slideLayouts/slideLayout6.xml" Id="Rb41d775b52bd4f25" /><Relationship Type="http://schemas.openxmlformats.org/officeDocument/2006/relationships/slideLayout" Target="/ppt/slideLayouts/slideLayout7.xml" Id="Rb5b95426ac87419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封面.jp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b3b4c2ee147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24384000" cy="137160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0" name="image3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c0ede2a1b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" y="911219"/>
            <a:ext cx="2463465" cy="53771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" name="幻灯片标题">
            <a:extLst xmlns:a="http://schemas.openxmlformats.org/drawingml/2006/main">
              <a:ext uri="{FF2B5EF4-FFF2-40B4-BE49-F238E27FC236}">
                <a16:creationId xmlns:a16="http://schemas.microsoft.com/office/drawing/2014/main" id="{D7714041-FE84-4653-B753-5B27DAA0A4C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06500" y="1079500"/>
            <a:ext cx="10477500" cy="14351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/>
          </a:bodyPr>
          <a:lstStyle xmlns:a="http://schemas.openxmlformats.org/drawingml/2006/main"/>
          <a:p xmlns:a="http://schemas.openxmlformats.org/drawingml/2006/main">
            <a:r>
              <a:t>幻灯片标题</a:t>
            </a:r>
          </a:p>
        </p:txBody>
      </p:sp>
      <p:sp>
        <p:nvSpPr>
          <p:cNvPr id="5" name="正文级别 1…">
            <a:extLst xmlns:a="http://schemas.openxmlformats.org/drawingml/2006/main">
              <a:ext uri="{FF2B5EF4-FFF2-40B4-BE49-F238E27FC236}">
                <a16:creationId xmlns:a16="http://schemas.microsoft.com/office/drawing/2014/main" id="{70DA6EFD-4636-42AB-8124-FA4371A950F4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206500" y="4248504"/>
            <a:ext cx="10477500" cy="825601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50800" tIns="50800" rIns="50800" bIns="50800">
            <a:normAutofit/>
          </a:bodyPr>
          <a:lstStyle xmlns:a="http://schemas.openxmlformats.org/drawingml/2006/main"/>
          <a:p xmlns:a="http://schemas.openxmlformats.org/drawingml/2006/main">
            <a:r>
              <a:t>幻灯片项目符号文本</a:t>
            </a:r>
          </a:p>
          <a:p xmlns:a="http://schemas.openxmlformats.org/drawingml/2006/main">
            <a:pPr lvl="1">
              <a:buNone/>
            </a:pPr>
            <a:endParaRPr/>
          </a:p>
          <a:p xmlns:a="http://schemas.openxmlformats.org/drawingml/2006/main">
            <a:pPr lvl="2">
              <a:buNone/>
            </a:pPr>
            <a:endParaRPr/>
          </a:p>
          <a:p xmlns:a="http://schemas.openxmlformats.org/drawingml/2006/main">
            <a:pPr lvl="3">
              <a:buNone/>
            </a:pPr>
            <a:endParaRPr/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6" name="幻灯片编号">
            <a:extLst xmlns:a="http://schemas.openxmlformats.org/drawingml/2006/main">
              <a:ext uri="{FF2B5EF4-FFF2-40B4-BE49-F238E27FC236}">
                <a16:creationId xmlns:a16="http://schemas.microsoft.com/office/drawing/2014/main" id="{7F9D6E73-8A70-4DEF-80D3-D7B43B1DFCA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1989298" y="13087298"/>
            <a:ext cx="392907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50800" tIns="50800" rIns="50800" bIns="50800" anchor="b">
            <a:spAutoFit/>
          </a:bodyPr>
          <a:lstStyle xmlns:a="http://schemas.openxmlformats.org/drawingml/2006/main">
            <a:lvl1pPr defTabSz="584200">
              <a:buNone/>
              <a:defRPr sz="1800">
                <a:solidFill>
                  <a:srgbClr val="000000"/>
                </a:solidFill>
              </a:defRPr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f41819728843ee"/>
    <p:sldLayoutId xmlns:r="http://schemas.openxmlformats.org/officeDocument/2006/relationships" id="2147483650" r:id="R13d8a4ba56994da9"/>
    <p:sldLayoutId xmlns:r="http://schemas.openxmlformats.org/officeDocument/2006/relationships" id="2147483651" r:id="R8995fc77dd17479e"/>
    <p:sldLayoutId xmlns:r="http://schemas.openxmlformats.org/officeDocument/2006/relationships" id="2147483652" r:id="Rffec6cd029aa4368"/>
    <p:sldLayoutId xmlns:r="http://schemas.openxmlformats.org/officeDocument/2006/relationships" id="2147483653" r:id="Ra38840ca0e044448"/>
    <p:sldLayoutId xmlns:r="http://schemas.openxmlformats.org/officeDocument/2006/relationships" id="2147483654" r:id="Rb41d775b52bd4f25"/>
    <p:sldLayoutId xmlns:r="http://schemas.openxmlformats.org/officeDocument/2006/relationships" id="2147483655" r:id="Rb5b95426ac874195"/>
  </p:sldLayoutIdLst>
  <p:hf sldNum="0" hdr="0" ftr="0" dt="0"/>
  <p:txStyles>
    <p:titleStyle>
      <a:lvl1pPr xmlns:a="http://schemas.openxmlformats.org/drawingml/2006/main" marL="0" marR="0" indent="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l" defTabSz="2438338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cap="none" spc="-17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609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1219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828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2438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30480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36576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42672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48768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5486400" marR="0" indent="-609600" algn="l" defTabSz="2438338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d9f7cad2c204322" /><Relationship Type="http://schemas.openxmlformats.org/officeDocument/2006/relationships/image" Target="/ppt/media/image5.png" Id="R06ddf56151194801" /><Relationship Type="http://schemas.openxmlformats.org/officeDocument/2006/relationships/notesSlide" Target="/ppt/notesSlides/notesSlide1.xml" Id="Rfec5b62ed7724a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9ba46a2c944543" /><Relationship Type="http://schemas.openxmlformats.org/officeDocument/2006/relationships/image" Target="/ppt/media/image6.png" Id="R8d71915a37674429" /><Relationship Type="http://schemas.openxmlformats.org/officeDocument/2006/relationships/notesSlide" Target="/ppt/notesSlides/notesSlide2.xml" Id="Ref0ca105867847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0b0d207df774a9a" /><Relationship Type="http://schemas.openxmlformats.org/officeDocument/2006/relationships/image" Target="/ppt/media/image7.png" Id="R9d74bb05daee4a47" /><Relationship Type="http://schemas.openxmlformats.org/officeDocument/2006/relationships/notesSlide" Target="/ppt/notesSlides/notesSlide3.xml" Id="Rd1418f3d9603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a7fbbecaa14066" /><Relationship Type="http://schemas.openxmlformats.org/officeDocument/2006/relationships/image" Target="/ppt/media/image8.png" Id="R9fe5b2c4f1e64bdc" /><Relationship Type="http://schemas.openxmlformats.org/officeDocument/2006/relationships/notesSlide" Target="/ppt/notesSlides/notesSlide4.xml" Id="R45677276ec914a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28de64acf141f9" /><Relationship Type="http://schemas.openxmlformats.org/officeDocument/2006/relationships/image" Target="/ppt/media/image9.png" Id="R4ba9592899d74d83" /><Relationship Type="http://schemas.openxmlformats.org/officeDocument/2006/relationships/notesSlide" Target="/ppt/notesSlides/notesSlide5.xml" Id="Rea9a26f9a23541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da8f7bf4a3f486a" /><Relationship Type="http://schemas.openxmlformats.org/officeDocument/2006/relationships/image" Target="/ppt/media/image10.png" Id="Rfc8e85cb052c4f69" /><Relationship Type="http://schemas.openxmlformats.org/officeDocument/2006/relationships/notesSlide" Target="/ppt/notesSlides/notesSlide6.xml" Id="Rcb4a44b445594d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d2f13058a7451f" /><Relationship Type="http://schemas.openxmlformats.org/officeDocument/2006/relationships/image" Target="/ppt/media/image11.png" Id="Rd839593248844358" /><Relationship Type="http://schemas.openxmlformats.org/officeDocument/2006/relationships/notesSlide" Target="/ppt/notesSlides/notesSlide7.xml" Id="R9e50db407acb4e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aa68c1f73d4e69" /><Relationship Type="http://schemas.openxmlformats.org/officeDocument/2006/relationships/image" Target="/ppt/media/image12.png" Id="Raf29808df4d24dba" /><Relationship Type="http://schemas.openxmlformats.org/officeDocument/2006/relationships/notesSlide" Target="/ppt/notesSlides/notesSlide8.xml" Id="R52b1cbe1348348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AgentScope Roadmap：三条能力主线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Harness 夯实长任务内核，AgentCore 承接生产运营，多 Agent 与服务能力扩展规模化协作边界。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df56151194801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AgentScope Roadmap：统一 Agent 生产闭环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统一事件、状态和控制面契约，让开发、运行、治理与协作在同一生命周期内闭环。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1915a37674429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AgentTeams：多 Agent 团队协作状态机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Lead、成员、Task Board 与 Mailbox 共同形成任务分解、消息协作和结果收敛闭环。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4bb05daee4a47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AgentTeams vs SubAgent：团队协作与层级委派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SubAgent 强调父子委派与结果回传；AgentTeams 强调多成员共享任务、状态与消息。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5b2c4f1e64bdc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RAG Service：从检索组件到可运营知识服务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多租户知识库解耦 API 与索引 Worker，以异步任务、共享存储和自愈机制支撑生产部署。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9592899d74d83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Memory：Static 确定性与 Agentic 自适应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Static 与 Agentic 共享双层长期记忆底座，差异在于“何时记、记什么、何时取”的决策权。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e85cb052c4f69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E2B Sandbox：隔离执行与跨调用恢复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Harness 通过统一 Filesystem / Workspace 接口接入 E2B，隔离文件与 Shell，并支撑快照恢复。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9593248844358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请填写大标题-方正兰亭粗黑60磅-限制一行">
            <a:extLst xmlns:a="http://schemas.openxmlformats.org/drawingml/2006/main">
              <a:ext uri="{FF2B5EF4-FFF2-40B4-BE49-F238E27FC236}">
                <a16:creationId xmlns:a16="http://schemas.microsoft.com/office/drawing/2014/main" id="{BB1AC2E1-C1C7-2EAB-A0EF-85D67CC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247" y="265688"/>
            <a:ext cx="16177506" cy="1025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txBody>
          <a:bodyPr xmlns:a="http://schemas.openxmlformats.org/drawingml/2006/main" wrap="none" lIns="50800" tIns="50800" rIns="50800" bIns="50800" anchor="ctr">
            <a:spAutoFit/>
          </a:bodyPr>
          <a:lstStyle xmlns:a="http://schemas.openxmlformats.org/drawingml/2006/main">
            <a:lvl1pPr defTabSz="825500">
              <a:buNone/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</a:defRPr>
            </a:lvl1pPr>
          </a:lstStyle>
          <a:p xmlns:a="http://schemas.openxmlformats.org/drawingml/2006/main">
            <a:r>
              <a:rPr>
                <a:latin typeface="Alibaba PuHuiTi R"/>
                <a:ea typeface="Alibaba PuHuiTi R"/>
                <a:cs typeface="Alibaba PuHuiTi R"/>
              </a:rPr>
              <a:t>Goal Pipeline：执行—验证—反馈闭环</a:t>
            </a:r>
            <a:endParaRPr>
              <a:latin typeface="Alibaba PuHuiTi R"/>
              <a:ea typeface="Alibaba PuHuiTi R"/>
              <a:cs typeface="Alibaba PuHuiTi R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6CDCBDE-7926-6098-EB8F-E982046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77" y="1779964"/>
            <a:ext cx="20119788" cy="1395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/>
              <a:t>Executor 产出，Verifier 对照 Goal 验收；失败原因反馈执行端，直到通过、不可达或耗尽尝试。</a:t>
            </a:r>
            <a:endParaRPr sz="2800" b="0" i="0" u="none" cap="none" spc="0" baseline="0">
              <a:ln>
                <a:noFill/>
              </a:ln>
              <a:solidFill>
                <a:srgbClr val="5E5E5E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9808df4d24dba"/>
          <a:stretch xmlns:a="http://schemas.openxmlformats.org/drawingml/2006/main"/>
        </p:blipFill>
        <p:spPr>
          <a:xfrm xmlns:a="http://schemas.openxmlformats.org/drawingml/2006/main" flipH="0" flipV="0">
            <a:off x="1377576" y="3197411"/>
            <a:ext cx="20483570" cy="10518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33437"/>
      </p:ext>
    </p:extLst>
  </p:cSld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2026-08-29T06:39:47.4530000Z</dcterms:created>
  <dcterms:modified xsi:type="dcterms:W3CDTF">2026-08-29T06:39:47.4530000Z</dcterms:modified>
</coreProperties>
</file>